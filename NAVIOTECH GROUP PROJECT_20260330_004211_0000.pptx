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rial MT Pro Bold" charset="1" panose="020B0802020202020204"/>
      <p:regular r:id="rId20"/>
    </p:embeddedFont>
    <p:embeddedFont>
      <p:font typeface="Canva Sans Bold" charset="1" panose="020B0803030501040103"/>
      <p:regular r:id="rId21"/>
    </p:embeddedFont>
    <p:embeddedFont>
      <p:font typeface="Arial MT Pro" charset="1" panose="020B0502020202020204"/>
      <p:regular r:id="rId22"/>
    </p:embeddedFont>
    <p:embeddedFont>
      <p:font typeface="DM Sans Bold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067" t="-7091" r="0" b="-230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740419"/>
            <a:ext cx="18131863" cy="18131863"/>
          </a:xfrm>
          <a:custGeom>
            <a:avLst/>
            <a:gdLst/>
            <a:ahLst/>
            <a:cxnLst/>
            <a:rect r="r" b="b" t="t" l="l"/>
            <a:pathLst>
              <a:path h="18131863" w="18131863">
                <a:moveTo>
                  <a:pt x="0" y="0"/>
                </a:moveTo>
                <a:lnTo>
                  <a:pt x="18131863" y="0"/>
                </a:lnTo>
                <a:lnTo>
                  <a:pt x="18131863" y="18131863"/>
                </a:lnTo>
                <a:lnTo>
                  <a:pt x="0" y="181318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83736" y="2693584"/>
            <a:ext cx="11764392" cy="2449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40"/>
              </a:lnSpc>
              <a:spcBef>
                <a:spcPct val="0"/>
              </a:spcBef>
            </a:pPr>
            <a:r>
              <a:rPr lang="en-US" b="true" sz="667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Comparative Study on Gold SIP &amp; Gold ETF.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22818" y="6056243"/>
            <a:ext cx="1224236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Analyzing Investment Strategies, Costs, and Returns in Paper Gold.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527125"/>
            <a:ext cx="7227868" cy="2692381"/>
          </a:xfrm>
          <a:custGeom>
            <a:avLst/>
            <a:gdLst/>
            <a:ahLst/>
            <a:cxnLst/>
            <a:rect r="r" b="b" t="t" l="l"/>
            <a:pathLst>
              <a:path h="2692381" w="7227868">
                <a:moveTo>
                  <a:pt x="0" y="0"/>
                </a:moveTo>
                <a:lnTo>
                  <a:pt x="7227868" y="0"/>
                </a:lnTo>
                <a:lnTo>
                  <a:pt x="7227868" y="2692381"/>
                </a:lnTo>
                <a:lnTo>
                  <a:pt x="0" y="26923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35774" y="2423794"/>
            <a:ext cx="5371434" cy="2929669"/>
          </a:xfrm>
          <a:custGeom>
            <a:avLst/>
            <a:gdLst/>
            <a:ahLst/>
            <a:cxnLst/>
            <a:rect r="r" b="b" t="t" l="l"/>
            <a:pathLst>
              <a:path h="2929669" w="5371434">
                <a:moveTo>
                  <a:pt x="0" y="0"/>
                </a:moveTo>
                <a:lnTo>
                  <a:pt x="5371433" y="0"/>
                </a:lnTo>
                <a:lnTo>
                  <a:pt x="5371433" y="2929670"/>
                </a:lnTo>
                <a:lnTo>
                  <a:pt x="0" y="29296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5959" y="5875592"/>
            <a:ext cx="7315200" cy="3029712"/>
          </a:xfrm>
          <a:custGeom>
            <a:avLst/>
            <a:gdLst/>
            <a:ahLst/>
            <a:cxnLst/>
            <a:rect r="r" b="b" t="t" l="l"/>
            <a:pathLst>
              <a:path h="3029712" w="7315200">
                <a:moveTo>
                  <a:pt x="0" y="0"/>
                </a:moveTo>
                <a:lnTo>
                  <a:pt x="7315200" y="0"/>
                </a:lnTo>
                <a:lnTo>
                  <a:pt x="7315200" y="3029712"/>
                </a:lnTo>
                <a:lnTo>
                  <a:pt x="0" y="30297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30746" y="5875592"/>
            <a:ext cx="7315200" cy="3090672"/>
          </a:xfrm>
          <a:custGeom>
            <a:avLst/>
            <a:gdLst/>
            <a:ahLst/>
            <a:cxnLst/>
            <a:rect r="r" b="b" t="t" l="l"/>
            <a:pathLst>
              <a:path h="3090672" w="7315200">
                <a:moveTo>
                  <a:pt x="0" y="0"/>
                </a:moveTo>
                <a:lnTo>
                  <a:pt x="7315200" y="0"/>
                </a:lnTo>
                <a:lnTo>
                  <a:pt x="7315200" y="3090672"/>
                </a:lnTo>
                <a:lnTo>
                  <a:pt x="0" y="30906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83559" y="857250"/>
            <a:ext cx="889437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MEMBER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08181" y="3483108"/>
            <a:ext cx="5221131" cy="6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Palak Basotia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64987" y="3498422"/>
            <a:ext cx="2176462" cy="6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Megh Patel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96974" y="6910514"/>
            <a:ext cx="2722245" cy="6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Gritika Kothari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77220" y="6910514"/>
            <a:ext cx="4551997" cy="6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Mayank Pravin Tulaskar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6227" y="6999074"/>
            <a:ext cx="18845518" cy="4080264"/>
            <a:chOff x="0" y="0"/>
            <a:chExt cx="2919664" cy="632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19664" cy="632140"/>
            </a:xfrm>
            <a:custGeom>
              <a:avLst/>
              <a:gdLst/>
              <a:ahLst/>
              <a:cxnLst/>
              <a:rect r="r" b="b" t="t" l="l"/>
              <a:pathLst>
                <a:path h="632140" w="2919664">
                  <a:moveTo>
                    <a:pt x="0" y="0"/>
                  </a:moveTo>
                  <a:lnTo>
                    <a:pt x="2919664" y="0"/>
                  </a:lnTo>
                  <a:lnTo>
                    <a:pt x="2919664" y="632140"/>
                  </a:lnTo>
                  <a:lnTo>
                    <a:pt x="0" y="632140"/>
                  </a:lnTo>
                  <a:close/>
                </a:path>
              </a:pathLst>
            </a:custGeom>
            <a:blipFill>
              <a:blip r:embed="rId2">
                <a:alphaModFix amt="62000"/>
              </a:blip>
              <a:stretch>
                <a:fillRect l="0" t="-103956" r="0" b="-10395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39108" y="1801747"/>
            <a:ext cx="15899245" cy="4111477"/>
            <a:chOff x="0" y="0"/>
            <a:chExt cx="4187455" cy="10828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87455" cy="1082858"/>
            </a:xfrm>
            <a:custGeom>
              <a:avLst/>
              <a:gdLst/>
              <a:ahLst/>
              <a:cxnLst/>
              <a:rect r="r" b="b" t="t" l="l"/>
              <a:pathLst>
                <a:path h="1082858" w="4187455">
                  <a:moveTo>
                    <a:pt x="7304" y="0"/>
                  </a:moveTo>
                  <a:lnTo>
                    <a:pt x="4180151" y="0"/>
                  </a:lnTo>
                  <a:cubicBezTo>
                    <a:pt x="4184185" y="0"/>
                    <a:pt x="4187455" y="3270"/>
                    <a:pt x="4187455" y="7304"/>
                  </a:cubicBezTo>
                  <a:lnTo>
                    <a:pt x="4187455" y="1075554"/>
                  </a:lnTo>
                  <a:cubicBezTo>
                    <a:pt x="4187455" y="1079588"/>
                    <a:pt x="4184185" y="1082858"/>
                    <a:pt x="4180151" y="1082858"/>
                  </a:cubicBezTo>
                  <a:lnTo>
                    <a:pt x="7304" y="1082858"/>
                  </a:lnTo>
                  <a:cubicBezTo>
                    <a:pt x="3270" y="1082858"/>
                    <a:pt x="0" y="1079588"/>
                    <a:pt x="0" y="1075554"/>
                  </a:cubicBezTo>
                  <a:lnTo>
                    <a:pt x="0" y="7304"/>
                  </a:lnTo>
                  <a:cubicBezTo>
                    <a:pt x="0" y="3270"/>
                    <a:pt x="3270" y="0"/>
                    <a:pt x="7304" y="0"/>
                  </a:cubicBezTo>
                  <a:close/>
                </a:path>
              </a:pathLst>
            </a:custGeom>
            <a:solidFill>
              <a:srgbClr val="006D3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87455" cy="1120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002213" y="3465482"/>
            <a:ext cx="5831822" cy="783903"/>
            <a:chOff x="0" y="0"/>
            <a:chExt cx="900307" cy="12101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00307" cy="121018"/>
            </a:xfrm>
            <a:custGeom>
              <a:avLst/>
              <a:gdLst/>
              <a:ahLst/>
              <a:cxnLst/>
              <a:rect r="r" b="b" t="t" l="l"/>
              <a:pathLst>
                <a:path h="121018" w="900307">
                  <a:moveTo>
                    <a:pt x="19913" y="0"/>
                  </a:moveTo>
                  <a:lnTo>
                    <a:pt x="880394" y="0"/>
                  </a:lnTo>
                  <a:cubicBezTo>
                    <a:pt x="885675" y="0"/>
                    <a:pt x="890740" y="2098"/>
                    <a:pt x="894474" y="5832"/>
                  </a:cubicBezTo>
                  <a:cubicBezTo>
                    <a:pt x="898209" y="9567"/>
                    <a:pt x="900307" y="14632"/>
                    <a:pt x="900307" y="19913"/>
                  </a:cubicBezTo>
                  <a:lnTo>
                    <a:pt x="900307" y="101105"/>
                  </a:lnTo>
                  <a:cubicBezTo>
                    <a:pt x="900307" y="112102"/>
                    <a:pt x="891391" y="121018"/>
                    <a:pt x="880394" y="121018"/>
                  </a:cubicBezTo>
                  <a:lnTo>
                    <a:pt x="19913" y="121018"/>
                  </a:lnTo>
                  <a:cubicBezTo>
                    <a:pt x="8915" y="121018"/>
                    <a:pt x="0" y="112102"/>
                    <a:pt x="0" y="101105"/>
                  </a:cubicBezTo>
                  <a:lnTo>
                    <a:pt x="0" y="19913"/>
                  </a:lnTo>
                  <a:cubicBezTo>
                    <a:pt x="0" y="8915"/>
                    <a:pt x="8915" y="0"/>
                    <a:pt x="1991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00307" cy="159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151915" y="3571211"/>
            <a:ext cx="3859406" cy="52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9"/>
              </a:lnSpc>
              <a:spcBef>
                <a:spcPct val="0"/>
              </a:spcBef>
            </a:pPr>
            <a:r>
              <a:rPr lang="en-US" b="true" sz="3070" u="sng">
                <a:solidFill>
                  <a:srgbClr val="004B29"/>
                </a:solidFill>
                <a:latin typeface="DM Sans Bold"/>
                <a:ea typeface="DM Sans Bold"/>
                <a:cs typeface="DM Sans Bold"/>
                <a:sym typeface="DM Sans Bold"/>
              </a:rPr>
              <a:t>INTRODUCTION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98843" y="2188886"/>
            <a:ext cx="8150280" cy="3471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4"/>
              </a:lnSpc>
            </a:pPr>
            <a:r>
              <a:rPr lang="en-US" sz="244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Investment refers to allocating money with the expectation of generating future returns.</a:t>
            </a:r>
          </a:p>
          <a:p>
            <a:pPr algn="l">
              <a:lnSpc>
                <a:spcPts val="3424"/>
              </a:lnSpc>
            </a:pPr>
            <a:r>
              <a:rPr lang="en-US" sz="244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Gold has been considered a reliable and traditional form of investment for centuries.</a:t>
            </a:r>
          </a:p>
          <a:p>
            <a:pPr algn="l">
              <a:lnSpc>
                <a:spcPts val="3424"/>
              </a:lnSpc>
            </a:pPr>
            <a:r>
              <a:rPr lang="en-US" sz="244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With financial innovation, modern options like Gold SIP and Gold ETFs have gained popularity.</a:t>
            </a:r>
          </a:p>
          <a:p>
            <a:pPr algn="l">
              <a:lnSpc>
                <a:spcPts val="3424"/>
              </a:lnSpc>
            </a:pPr>
            <a:r>
              <a:rPr lang="en-US" sz="244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This project focuses on comparing these two investment methods.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1259526"/>
            <a:chOff x="0" y="0"/>
            <a:chExt cx="3364076" cy="20711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64076" cy="2071189"/>
            </a:xfrm>
            <a:custGeom>
              <a:avLst/>
              <a:gdLst/>
              <a:ahLst/>
              <a:cxnLst/>
              <a:rect r="r" b="b" t="t" l="l"/>
              <a:pathLst>
                <a:path h="2071189" w="3364076">
                  <a:moveTo>
                    <a:pt x="0" y="0"/>
                  </a:moveTo>
                  <a:lnTo>
                    <a:pt x="3364076" y="0"/>
                  </a:lnTo>
                  <a:lnTo>
                    <a:pt x="3364076" y="2071189"/>
                  </a:lnTo>
                  <a:lnTo>
                    <a:pt x="0" y="2071189"/>
                  </a:lnTo>
                  <a:close/>
                </a:path>
              </a:pathLst>
            </a:custGeom>
            <a:blipFill>
              <a:blip r:embed="rId2">
                <a:alphaModFix amt="75000"/>
              </a:blip>
              <a:stretch>
                <a:fillRect l="0" t="-10830" r="0" b="-1083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24795" y="556023"/>
            <a:ext cx="14595106" cy="1561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30"/>
              </a:lnSpc>
            </a:pPr>
            <a:r>
              <a:rPr lang="en-US" sz="8833" u="sng" b="true">
                <a:solidFill>
                  <a:srgbClr val="2DCD84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GOLD SIP CONCEPT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1365" y="3998586"/>
            <a:ext cx="10884538" cy="3702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5"/>
              </a:lnSpc>
            </a:pPr>
            <a:r>
              <a:rPr lang="en-US" sz="3475" b="tru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Gold SIP (Systematic Investment Plan) allows investors to invest small amounts regularly in gold.</a:t>
            </a:r>
          </a:p>
          <a:p>
            <a:pPr algn="l">
              <a:lnSpc>
                <a:spcPts val="4865"/>
              </a:lnSpc>
            </a:pPr>
            <a:r>
              <a:rPr lang="en-US" sz="3475" b="tru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It is usually offered through mutual funds or digital platforms.</a:t>
            </a:r>
          </a:p>
          <a:p>
            <a:pPr algn="l">
              <a:lnSpc>
                <a:spcPts val="4865"/>
              </a:lnSpc>
              <a:spcBef>
                <a:spcPct val="0"/>
              </a:spcBef>
            </a:pPr>
            <a:r>
              <a:rPr lang="en-US" b="true" sz="3475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Suitable for investors who prefer disciplined and gradual investment.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1365" y="2139328"/>
            <a:ext cx="4489780" cy="1352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74"/>
              </a:lnSpc>
              <a:spcBef>
                <a:spcPct val="0"/>
              </a:spcBef>
            </a:pPr>
            <a:r>
              <a:rPr lang="en-US" b="true" sz="7124" u="sng">
                <a:solidFill>
                  <a:srgbClr val="FFDE59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MEANING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77299" y="1009454"/>
            <a:ext cx="7761105" cy="8917803"/>
            <a:chOff x="0" y="0"/>
            <a:chExt cx="1202398" cy="13816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2398" cy="1381601"/>
            </a:xfrm>
            <a:custGeom>
              <a:avLst/>
              <a:gdLst/>
              <a:ahLst/>
              <a:cxnLst/>
              <a:rect r="r" b="b" t="t" l="l"/>
              <a:pathLst>
                <a:path h="1381601" w="1202398">
                  <a:moveTo>
                    <a:pt x="0" y="0"/>
                  </a:moveTo>
                  <a:lnTo>
                    <a:pt x="1202398" y="0"/>
                  </a:lnTo>
                  <a:lnTo>
                    <a:pt x="1202398" y="1381601"/>
                  </a:lnTo>
                  <a:lnTo>
                    <a:pt x="0" y="1381601"/>
                  </a:lnTo>
                  <a:close/>
                </a:path>
              </a:pathLst>
            </a:custGeom>
            <a:blipFill>
              <a:blip r:embed="rId2">
                <a:alphaModFix amt="62000"/>
              </a:blip>
              <a:stretch>
                <a:fillRect l="-59264" t="0" r="-59264" b="0"/>
              </a:stretch>
            </a:blipFill>
            <a:ln w="38100" cap="sq">
              <a:solidFill>
                <a:srgbClr val="000000">
                  <a:alpha val="61961"/>
                </a:srgbClr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457537" y="2542454"/>
            <a:ext cx="9611035" cy="5049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78327" indent="-439163" lvl="1">
              <a:lnSpc>
                <a:spcPts val="5695"/>
              </a:lnSpc>
              <a:buFont typeface="Arial"/>
              <a:buChar char="•"/>
            </a:pPr>
            <a:r>
              <a:rPr lang="en-US" sz="406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Fixed periodic investment (monthly/weekly)</a:t>
            </a:r>
          </a:p>
          <a:p>
            <a:pPr algn="just" marL="878327" indent="-439163" lvl="1">
              <a:lnSpc>
                <a:spcPts val="5695"/>
              </a:lnSpc>
              <a:buFont typeface="Arial"/>
              <a:buChar char="•"/>
            </a:pPr>
            <a:r>
              <a:rPr lang="en-US" sz="406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Rupee Cost Averaging benefit</a:t>
            </a:r>
          </a:p>
          <a:p>
            <a:pPr algn="just" marL="878327" indent="-439163" lvl="1">
              <a:lnSpc>
                <a:spcPts val="5695"/>
              </a:lnSpc>
              <a:buFont typeface="Arial"/>
              <a:buChar char="•"/>
            </a:pPr>
            <a:r>
              <a:rPr lang="en-US" sz="406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Low initial investment requirement</a:t>
            </a:r>
          </a:p>
          <a:p>
            <a:pPr algn="just" marL="878327" indent="-439163" lvl="1">
              <a:lnSpc>
                <a:spcPts val="5695"/>
              </a:lnSpc>
              <a:buFont typeface="Arial"/>
              <a:buChar char="•"/>
            </a:pPr>
            <a:r>
              <a:rPr lang="en-US" sz="406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Easy and automated investment process</a:t>
            </a:r>
          </a:p>
          <a:p>
            <a:pPr algn="just" marL="878327" indent="-439163" lvl="1">
              <a:lnSpc>
                <a:spcPts val="5695"/>
              </a:lnSpc>
              <a:buFont typeface="Arial"/>
              <a:buChar char="•"/>
            </a:pPr>
            <a:r>
              <a:rPr lang="en-US" sz="406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No need for market timing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0866" y="931473"/>
            <a:ext cx="9304377" cy="1202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19"/>
              </a:lnSpc>
              <a:spcBef>
                <a:spcPct val="0"/>
              </a:spcBef>
            </a:pPr>
            <a:r>
              <a:rPr lang="en-US" b="true" sz="6299" u="sng">
                <a:solidFill>
                  <a:srgbClr val="2DCD84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FEATURE OF GOLD SIP</a:t>
            </a:r>
            <a:r>
              <a:rPr lang="en-US" sz="6299" u="sng">
                <a:solidFill>
                  <a:srgbClr val="2DCD84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3770" y="3162060"/>
            <a:ext cx="7157993" cy="4945971"/>
            <a:chOff x="0" y="0"/>
            <a:chExt cx="1954870" cy="1350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4870" cy="1350760"/>
            </a:xfrm>
            <a:custGeom>
              <a:avLst/>
              <a:gdLst/>
              <a:ahLst/>
              <a:cxnLst/>
              <a:rect r="r" b="b" t="t" l="l"/>
              <a:pathLst>
                <a:path h="1350760" w="1954870">
                  <a:moveTo>
                    <a:pt x="0" y="0"/>
                  </a:moveTo>
                  <a:lnTo>
                    <a:pt x="1954870" y="0"/>
                  </a:lnTo>
                  <a:lnTo>
                    <a:pt x="1954870" y="1350760"/>
                  </a:lnTo>
                  <a:lnTo>
                    <a:pt x="0" y="1350760"/>
                  </a:lnTo>
                  <a:close/>
                </a:path>
              </a:pathLst>
            </a:custGeom>
            <a:blipFill>
              <a:blip r:embed="rId2">
                <a:alphaModFix amt="62000"/>
              </a:blip>
              <a:stretch>
                <a:fillRect l="-1917" t="0" r="-1917" b="0"/>
              </a:stretch>
            </a:blipFill>
            <a:ln w="76200" cap="sq">
              <a:solidFill>
                <a:srgbClr val="000000">
                  <a:alpha val="61961"/>
                </a:srgbClr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638097" y="259756"/>
            <a:ext cx="16621203" cy="2030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75"/>
              </a:lnSpc>
            </a:pPr>
            <a:r>
              <a:rPr lang="en-US" b="true" sz="5553" u="sng">
                <a:solidFill>
                  <a:srgbClr val="2DCD84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ADVANTAGES &amp; DISADVANTAGES OF </a:t>
            </a:r>
          </a:p>
          <a:p>
            <a:pPr algn="ctr">
              <a:lnSpc>
                <a:spcPts val="7775"/>
              </a:lnSpc>
              <a:spcBef>
                <a:spcPct val="0"/>
              </a:spcBef>
            </a:pPr>
            <a:r>
              <a:rPr lang="en-US" b="true" sz="5553" u="sng">
                <a:solidFill>
                  <a:srgbClr val="2DCD84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GOLD SIP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21191" y="2981085"/>
            <a:ext cx="9197459" cy="4766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9"/>
              </a:lnSpc>
            </a:pPr>
            <a:r>
              <a:rPr lang="en-US" sz="4378" u="sng" b="true">
                <a:solidFill>
                  <a:srgbClr val="FFDE59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ADVANTAGES</a:t>
            </a:r>
            <a:r>
              <a:rPr lang="en-US" sz="4378" b="true">
                <a:solidFill>
                  <a:srgbClr val="FFDE59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:</a:t>
            </a:r>
          </a:p>
          <a:p>
            <a:pPr algn="l">
              <a:lnSpc>
                <a:spcPts val="4976"/>
              </a:lnSpc>
            </a:pPr>
            <a:r>
              <a:rPr lang="en-US" sz="355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Affordable for small investors</a:t>
            </a:r>
          </a:p>
          <a:p>
            <a:pPr algn="l">
              <a:lnSpc>
                <a:spcPts val="4976"/>
              </a:lnSpc>
            </a:pPr>
            <a:r>
              <a:rPr lang="en-US" sz="355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Reduces market risk through averaging</a:t>
            </a:r>
          </a:p>
          <a:p>
            <a:pPr algn="l">
              <a:lnSpc>
                <a:spcPts val="4976"/>
              </a:lnSpc>
            </a:pPr>
            <a:r>
              <a:rPr lang="en-US" sz="355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Encourages disciplined saving</a:t>
            </a:r>
          </a:p>
          <a:p>
            <a:pPr algn="l">
              <a:lnSpc>
                <a:spcPts val="6129"/>
              </a:lnSpc>
            </a:pPr>
            <a:r>
              <a:rPr lang="en-US" sz="4378" u="sng" b="true">
                <a:solidFill>
                  <a:srgbClr val="FFDE59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DISADVANTAGES</a:t>
            </a:r>
            <a:r>
              <a:rPr lang="en-US" sz="4378" b="true">
                <a:solidFill>
                  <a:srgbClr val="FFDE59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:</a:t>
            </a:r>
          </a:p>
          <a:p>
            <a:pPr algn="l">
              <a:lnSpc>
                <a:spcPts val="4976"/>
              </a:lnSpc>
            </a:pPr>
            <a:r>
              <a:rPr lang="en-US" sz="355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Returns may be lower compared to ETFs</a:t>
            </a:r>
          </a:p>
          <a:p>
            <a:pPr algn="l">
              <a:lnSpc>
                <a:spcPts val="4976"/>
              </a:lnSpc>
              <a:spcBef>
                <a:spcPct val="0"/>
              </a:spcBef>
            </a:pPr>
            <a:r>
              <a:rPr lang="en-US" sz="355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Management and platform charges may apply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77605" y="834520"/>
            <a:ext cx="7262993" cy="8917803"/>
            <a:chOff x="0" y="0"/>
            <a:chExt cx="1125228" cy="13816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25228" cy="1381601"/>
            </a:xfrm>
            <a:custGeom>
              <a:avLst/>
              <a:gdLst/>
              <a:ahLst/>
              <a:cxnLst/>
              <a:rect r="r" b="b" t="t" l="l"/>
              <a:pathLst>
                <a:path h="1381601" w="1125228">
                  <a:moveTo>
                    <a:pt x="0" y="0"/>
                  </a:moveTo>
                  <a:lnTo>
                    <a:pt x="1125228" y="0"/>
                  </a:lnTo>
                  <a:lnTo>
                    <a:pt x="1125228" y="1381601"/>
                  </a:lnTo>
                  <a:lnTo>
                    <a:pt x="0" y="1381601"/>
                  </a:lnTo>
                  <a:close/>
                </a:path>
              </a:pathLst>
            </a:custGeom>
            <a:blipFill>
              <a:blip r:embed="rId2">
                <a:alphaModFix amt="62000"/>
              </a:blip>
              <a:stretch>
                <a:fillRect l="-59628" t="0" r="-59628" b="0"/>
              </a:stretch>
            </a:blipFill>
            <a:ln w="114300" cap="sq">
              <a:solidFill>
                <a:srgbClr val="000000">
                  <a:alpha val="61961"/>
                </a:srgbClr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-819250" y="752475"/>
            <a:ext cx="11878669" cy="1345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34"/>
              </a:lnSpc>
              <a:spcBef>
                <a:spcPct val="0"/>
              </a:spcBef>
            </a:pPr>
            <a:r>
              <a:rPr lang="en-US" b="true" sz="7024" u="sng">
                <a:solidFill>
                  <a:srgbClr val="2DCD84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GOLD ETF CONCEPT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2793" y="2221879"/>
            <a:ext cx="4237292" cy="949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 u="sng">
                <a:solidFill>
                  <a:srgbClr val="FFDE59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MEANING:-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2793" y="3533156"/>
            <a:ext cx="7764947" cy="4583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6"/>
              </a:lnSpc>
            </a:pPr>
            <a:r>
              <a:rPr lang="en-US" sz="366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Gold ETF (Exchange Traded Fund) is traded on stock exchanges like shares.</a:t>
            </a:r>
          </a:p>
          <a:p>
            <a:pPr algn="l">
              <a:lnSpc>
                <a:spcPts val="5136"/>
              </a:lnSpc>
            </a:pPr>
            <a:r>
              <a:rPr lang="en-US" sz="366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It represents physical gold in electronic form.</a:t>
            </a:r>
          </a:p>
          <a:p>
            <a:pPr algn="l">
              <a:lnSpc>
                <a:spcPts val="5136"/>
              </a:lnSpc>
              <a:spcBef>
                <a:spcPct val="0"/>
              </a:spcBef>
            </a:pPr>
            <a:r>
              <a:rPr lang="en-US" sz="366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Requires a Demat and trading account.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07264"/>
            <a:ext cx="16230600" cy="4369194"/>
            <a:chOff x="0" y="0"/>
            <a:chExt cx="2514545" cy="6769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14545" cy="676903"/>
            </a:xfrm>
            <a:custGeom>
              <a:avLst/>
              <a:gdLst/>
              <a:ahLst/>
              <a:cxnLst/>
              <a:rect r="r" b="b" t="t" l="l"/>
              <a:pathLst>
                <a:path h="676903" w="2514545">
                  <a:moveTo>
                    <a:pt x="0" y="0"/>
                  </a:moveTo>
                  <a:lnTo>
                    <a:pt x="2514545" y="0"/>
                  </a:lnTo>
                  <a:lnTo>
                    <a:pt x="2514545" y="676903"/>
                  </a:lnTo>
                  <a:lnTo>
                    <a:pt x="0" y="676903"/>
                  </a:lnTo>
                  <a:close/>
                </a:path>
              </a:pathLst>
            </a:custGeom>
            <a:blipFill>
              <a:blip r:embed="rId2">
                <a:alphaModFix amt="75000"/>
              </a:blip>
              <a:stretch>
                <a:fillRect l="0" t="-46751" r="0" b="-46751"/>
              </a:stretch>
            </a:blipFill>
            <a:ln w="38100" cap="sq">
              <a:solidFill>
                <a:srgbClr val="000000">
                  <a:alpha val="74902"/>
                </a:srgbClr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39108" y="5712039"/>
            <a:ext cx="6269392" cy="2393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81"/>
              </a:lnSpc>
            </a:pPr>
            <a:r>
              <a:rPr lang="en-US" sz="7128" u="sng" b="true">
                <a:solidFill>
                  <a:srgbClr val="2DCD84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FEATURES OF GOLD ETF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57063" y="5962985"/>
            <a:ext cx="9612645" cy="2879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4"/>
              </a:lnSpc>
            </a:pPr>
            <a:r>
              <a:rPr lang="en-US" sz="4003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Traded in real-time on stock exchanges</a:t>
            </a:r>
          </a:p>
          <a:p>
            <a:pPr algn="l">
              <a:lnSpc>
                <a:spcPts val="5604"/>
              </a:lnSpc>
            </a:pPr>
            <a:r>
              <a:rPr lang="en-US" sz="4003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High liquidity and transparency</a:t>
            </a:r>
          </a:p>
          <a:p>
            <a:pPr algn="l">
              <a:lnSpc>
                <a:spcPts val="5604"/>
              </a:lnSpc>
            </a:pPr>
            <a:r>
              <a:rPr lang="en-US" sz="4003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No storage or security concerns</a:t>
            </a:r>
          </a:p>
          <a:p>
            <a:pPr algn="l">
              <a:lnSpc>
                <a:spcPts val="5604"/>
              </a:lnSpc>
              <a:spcBef>
                <a:spcPct val="0"/>
              </a:spcBef>
            </a:pPr>
            <a:r>
              <a:rPr lang="en-US" sz="4003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Tracks gold market prices closely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0180" y="5587270"/>
            <a:ext cx="18808360" cy="5826404"/>
            <a:chOff x="0" y="0"/>
            <a:chExt cx="3179120" cy="984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79120" cy="984819"/>
            </a:xfrm>
            <a:custGeom>
              <a:avLst/>
              <a:gdLst/>
              <a:ahLst/>
              <a:cxnLst/>
              <a:rect r="r" b="b" t="t" l="l"/>
              <a:pathLst>
                <a:path h="984819" w="3179120">
                  <a:moveTo>
                    <a:pt x="0" y="0"/>
                  </a:moveTo>
                  <a:lnTo>
                    <a:pt x="3179120" y="0"/>
                  </a:lnTo>
                  <a:lnTo>
                    <a:pt x="3179120" y="984819"/>
                  </a:lnTo>
                  <a:lnTo>
                    <a:pt x="0" y="984819"/>
                  </a:lnTo>
                  <a:close/>
                </a:path>
              </a:pathLst>
            </a:custGeom>
            <a:blipFill>
              <a:blip r:embed="rId2">
                <a:alphaModFix amt="62000"/>
              </a:blip>
              <a:stretch>
                <a:fillRect l="0" t="-40387" r="0" b="-40387"/>
              </a:stretch>
            </a:blipFill>
            <a:ln w="38100" cap="sq">
              <a:solidFill>
                <a:srgbClr val="000000">
                  <a:alpha val="61961"/>
                </a:srgbClr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8994987" y="117660"/>
            <a:ext cx="8777118" cy="5309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3"/>
              </a:lnSpc>
            </a:pPr>
            <a:r>
              <a:rPr lang="en-US" sz="4474" u="sng" b="true">
                <a:solidFill>
                  <a:srgbClr val="FFDE59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ADVANTAGES:</a:t>
            </a:r>
          </a:p>
          <a:p>
            <a:pPr algn="l">
              <a:lnSpc>
                <a:spcPts val="5843"/>
              </a:lnSpc>
            </a:pPr>
            <a:r>
              <a:rPr lang="en-US" sz="417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High liquidity and flexibility</a:t>
            </a:r>
          </a:p>
          <a:p>
            <a:pPr algn="l">
              <a:lnSpc>
                <a:spcPts val="5843"/>
              </a:lnSpc>
            </a:pPr>
            <a:r>
              <a:rPr lang="en-US" sz="417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Lower long-term cost</a:t>
            </a:r>
          </a:p>
          <a:p>
            <a:pPr algn="l">
              <a:lnSpc>
                <a:spcPts val="5843"/>
              </a:lnSpc>
            </a:pPr>
            <a:r>
              <a:rPr lang="en-US" sz="417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Safe and regulated investment</a:t>
            </a:r>
          </a:p>
          <a:p>
            <a:pPr algn="l">
              <a:lnSpc>
                <a:spcPts val="6263"/>
              </a:lnSpc>
            </a:pPr>
            <a:r>
              <a:rPr lang="en-US" sz="4474" u="sng" b="true">
                <a:solidFill>
                  <a:srgbClr val="FFDE59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DISADVANTAGES:</a:t>
            </a:r>
          </a:p>
          <a:p>
            <a:pPr algn="l">
              <a:lnSpc>
                <a:spcPts val="5843"/>
              </a:lnSpc>
            </a:pPr>
            <a:r>
              <a:rPr lang="en-US" sz="417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Requires Demat account</a:t>
            </a:r>
          </a:p>
          <a:p>
            <a:pPr algn="l">
              <a:lnSpc>
                <a:spcPts val="5843"/>
              </a:lnSpc>
            </a:pPr>
            <a:r>
              <a:rPr lang="en-US" sz="417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Requires basic market knowledge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260180" y="865237"/>
            <a:ext cx="8796757" cy="3722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51"/>
              </a:lnSpc>
            </a:pPr>
            <a:r>
              <a:rPr lang="en-US" b="true" sz="6822" u="sng">
                <a:solidFill>
                  <a:srgbClr val="2DCD84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ADVANTAGES &amp; DISADVANTAGES </a:t>
            </a:r>
          </a:p>
          <a:p>
            <a:pPr algn="ctr">
              <a:lnSpc>
                <a:spcPts val="9551"/>
              </a:lnSpc>
              <a:spcBef>
                <a:spcPct val="0"/>
              </a:spcBef>
            </a:pPr>
            <a:r>
              <a:rPr lang="en-US" b="true" sz="6822" u="sng">
                <a:solidFill>
                  <a:srgbClr val="2DCD84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OF GOLD ETF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7637" y="2925453"/>
            <a:ext cx="9065640" cy="6491450"/>
            <a:chOff x="0" y="0"/>
            <a:chExt cx="2031824" cy="14548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1824" cy="1454887"/>
            </a:xfrm>
            <a:custGeom>
              <a:avLst/>
              <a:gdLst/>
              <a:ahLst/>
              <a:cxnLst/>
              <a:rect r="r" b="b" t="t" l="l"/>
              <a:pathLst>
                <a:path h="1454887" w="2031824">
                  <a:moveTo>
                    <a:pt x="0" y="0"/>
                  </a:moveTo>
                  <a:lnTo>
                    <a:pt x="2031824" y="0"/>
                  </a:lnTo>
                  <a:lnTo>
                    <a:pt x="2031824" y="1454887"/>
                  </a:lnTo>
                  <a:lnTo>
                    <a:pt x="0" y="1454887"/>
                  </a:lnTo>
                  <a:close/>
                </a:path>
              </a:pathLst>
            </a:custGeom>
            <a:blipFill>
              <a:blip r:embed="rId2">
                <a:alphaModFix amt="62000"/>
              </a:blip>
              <a:stretch>
                <a:fillRect l="0" t="-1354" r="0" b="-1354"/>
              </a:stretch>
            </a:blipFill>
            <a:ln w="38100" cap="sq">
              <a:solidFill>
                <a:srgbClr val="000000">
                  <a:alpha val="61961"/>
                </a:srgbClr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437359" y="427189"/>
            <a:ext cx="13624753" cy="162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92"/>
              </a:lnSpc>
            </a:pPr>
            <a:r>
              <a:rPr lang="en-US" b="true" sz="9200" u="sng">
                <a:solidFill>
                  <a:srgbClr val="2DCD84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WORKING PROCESS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0467" y="2773053"/>
            <a:ext cx="8026824" cy="636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4036" u="sng" b="true">
                <a:solidFill>
                  <a:srgbClr val="FFDE59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GOLD SIP:</a:t>
            </a:r>
          </a:p>
          <a:p>
            <a:pPr algn="l">
              <a:lnSpc>
                <a:spcPts val="4810"/>
              </a:lnSpc>
            </a:pPr>
            <a:r>
              <a:rPr lang="en-US" sz="343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Investor contributes a fixed amount regularly</a:t>
            </a:r>
          </a:p>
          <a:p>
            <a:pPr algn="l">
              <a:lnSpc>
                <a:spcPts val="4810"/>
              </a:lnSpc>
            </a:pPr>
            <a:r>
              <a:rPr lang="en-US" sz="343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Units are allocated based on current gold prices</a:t>
            </a:r>
          </a:p>
          <a:p>
            <a:pPr algn="l">
              <a:lnSpc>
                <a:spcPts val="5650"/>
              </a:lnSpc>
            </a:pPr>
            <a:r>
              <a:rPr lang="en-US" sz="4036" u="sng" b="true">
                <a:solidFill>
                  <a:srgbClr val="FFDE59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GOLD ETF:</a:t>
            </a:r>
          </a:p>
          <a:p>
            <a:pPr algn="l">
              <a:lnSpc>
                <a:spcPts val="4810"/>
              </a:lnSpc>
            </a:pPr>
            <a:r>
              <a:rPr lang="en-US" sz="343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Investors buy/sell units through stock exchange</a:t>
            </a:r>
          </a:p>
          <a:p>
            <a:pPr algn="l">
              <a:lnSpc>
                <a:spcPts val="4810"/>
              </a:lnSpc>
              <a:spcBef>
                <a:spcPct val="0"/>
              </a:spcBef>
            </a:pPr>
            <a:r>
              <a:rPr lang="en-US" sz="343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Prices fluctuate based on market demand and gold rates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02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392432" y="2808068"/>
          <a:ext cx="15690927" cy="6760207"/>
        </p:xfrm>
        <a:graphic>
          <a:graphicData uri="http://schemas.openxmlformats.org/drawingml/2006/table">
            <a:tbl>
              <a:tblPr/>
              <a:tblGrid>
                <a:gridCol w="4508066"/>
                <a:gridCol w="5352952"/>
                <a:gridCol w="5829908"/>
              </a:tblGrid>
              <a:tr h="9770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b="true" sz="2999" u="sng">
                          <a:solidFill>
                            <a:srgbClr val="FFDE59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Basis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b="true" sz="2999" u="sng">
                          <a:solidFill>
                            <a:srgbClr val="FFDE59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Gold SIP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b="true" sz="2999" u="sng">
                          <a:solidFill>
                            <a:srgbClr val="FFDE59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Gold ETF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37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Investment Style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Periodic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Market-based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426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Risk Level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Moderate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Low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130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Liquidity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Medium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126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Demat Account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Not Required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Required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126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Flexibility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126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Cost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Higher (charges)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Lower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-244771" y="623597"/>
            <a:ext cx="17504071" cy="1378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7"/>
              </a:lnSpc>
            </a:pPr>
            <a:r>
              <a:rPr lang="en-US" b="true" sz="7784" u="sng">
                <a:solidFill>
                  <a:srgbClr val="2DCD84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COMPARATIVE ANALYSIS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5130" y="236154"/>
            <a:ext cx="15676839" cy="2816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12"/>
              </a:lnSpc>
            </a:pPr>
            <a:r>
              <a:rPr lang="en-US" sz="6200" u="sng" b="true">
                <a:solidFill>
                  <a:srgbClr val="2DCD84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FINDINGS, SUGGESTIONS &amp; CONCLUSION</a:t>
            </a:r>
          </a:p>
          <a:p>
            <a:pPr algn="l">
              <a:lnSpc>
                <a:spcPts val="5670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0431174" y="2272901"/>
            <a:ext cx="7564382" cy="7541679"/>
            <a:chOff x="0" y="0"/>
            <a:chExt cx="1385760" cy="13816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5760" cy="1381601"/>
            </a:xfrm>
            <a:custGeom>
              <a:avLst/>
              <a:gdLst/>
              <a:ahLst/>
              <a:cxnLst/>
              <a:rect r="r" b="b" t="t" l="l"/>
              <a:pathLst>
                <a:path h="1381601" w="1385760">
                  <a:moveTo>
                    <a:pt x="0" y="0"/>
                  </a:moveTo>
                  <a:lnTo>
                    <a:pt x="1385760" y="0"/>
                  </a:lnTo>
                  <a:lnTo>
                    <a:pt x="1385760" y="1381601"/>
                  </a:lnTo>
                  <a:lnTo>
                    <a:pt x="0" y="1381601"/>
                  </a:lnTo>
                  <a:close/>
                </a:path>
              </a:pathLst>
            </a:custGeom>
            <a:blipFill>
              <a:blip r:embed="rId2">
                <a:alphaModFix amt="62000"/>
              </a:blip>
              <a:stretch>
                <a:fillRect l="-38622" t="0" r="-38622" b="0"/>
              </a:stretch>
            </a:blipFill>
            <a:ln w="114300" cap="sq">
              <a:solidFill>
                <a:srgbClr val="000000">
                  <a:alpha val="61961"/>
                </a:srgbClr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385130" y="2414986"/>
            <a:ext cx="9736245" cy="634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34"/>
              </a:lnSpc>
            </a:pPr>
            <a:r>
              <a:rPr lang="en-US" b="true" sz="3381" u="sng">
                <a:solidFill>
                  <a:srgbClr val="FFDE59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FINDINGS</a:t>
            </a:r>
            <a:r>
              <a:rPr lang="en-US" sz="3381" b="true">
                <a:solidFill>
                  <a:srgbClr val="FFDE59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:</a:t>
            </a:r>
          </a:p>
          <a:p>
            <a:pPr algn="just">
              <a:lnSpc>
                <a:spcPts val="4447"/>
              </a:lnSpc>
            </a:pPr>
            <a:r>
              <a:rPr lang="en-US" sz="3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Both options are secure and gold-backed investments</a:t>
            </a:r>
          </a:p>
          <a:p>
            <a:pPr algn="just">
              <a:lnSpc>
                <a:spcPts val="4447"/>
              </a:lnSpc>
            </a:pPr>
            <a:r>
              <a:rPr lang="en-US" sz="3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Gold SIP is better for beginners</a:t>
            </a:r>
          </a:p>
          <a:p>
            <a:pPr algn="just">
              <a:lnSpc>
                <a:spcPts val="4447"/>
              </a:lnSpc>
            </a:pPr>
            <a:r>
              <a:rPr lang="en-US" sz="3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Gold ETF is more suitable for experienced investors</a:t>
            </a:r>
          </a:p>
          <a:p>
            <a:pPr algn="just">
              <a:lnSpc>
                <a:spcPts val="4734"/>
              </a:lnSpc>
            </a:pPr>
            <a:r>
              <a:rPr lang="en-US" b="true" sz="3381" u="sng">
                <a:solidFill>
                  <a:srgbClr val="FFDE59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SUGGESTIONS</a:t>
            </a:r>
            <a:r>
              <a:rPr lang="en-US" sz="3381" b="true">
                <a:solidFill>
                  <a:srgbClr val="FFDE59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:</a:t>
            </a:r>
          </a:p>
          <a:p>
            <a:pPr algn="just">
              <a:lnSpc>
                <a:spcPts val="4447"/>
              </a:lnSpc>
            </a:pPr>
            <a:r>
              <a:rPr lang="en-US" sz="3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Choose Gold SIP for regular and disciplined investing</a:t>
            </a:r>
          </a:p>
          <a:p>
            <a:pPr algn="just">
              <a:lnSpc>
                <a:spcPts val="4447"/>
              </a:lnSpc>
            </a:pPr>
            <a:r>
              <a:rPr lang="en-US" sz="3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Choose Gold ETF for higher flexibility and liquidity</a:t>
            </a:r>
          </a:p>
          <a:p>
            <a:pPr algn="just">
              <a:lnSpc>
                <a:spcPts val="4734"/>
              </a:lnSpc>
            </a:pPr>
            <a:r>
              <a:rPr lang="en-US" b="true" sz="3381" u="sng">
                <a:solidFill>
                  <a:srgbClr val="FFDE59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CONCLUSION:</a:t>
            </a:r>
          </a:p>
          <a:p>
            <a:pPr algn="just">
              <a:lnSpc>
                <a:spcPts val="4447"/>
              </a:lnSpc>
              <a:spcBef>
                <a:spcPct val="0"/>
              </a:spcBef>
            </a:pPr>
            <a:r>
              <a:rPr lang="en-US" sz="3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The choice between Gold SIP and Gold ETF depends on the investor’s financial goals, risk appetite, and market knowledge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66919"/>
            <a:ext cx="15234649" cy="4877097"/>
            <a:chOff x="0" y="0"/>
            <a:chExt cx="15663447" cy="50143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663447" cy="5014369"/>
            </a:xfrm>
            <a:custGeom>
              <a:avLst/>
              <a:gdLst/>
              <a:ahLst/>
              <a:cxnLst/>
              <a:rect r="r" b="b" t="t" l="l"/>
              <a:pathLst>
                <a:path h="5014369" w="15663447">
                  <a:moveTo>
                    <a:pt x="0" y="0"/>
                  </a:moveTo>
                  <a:lnTo>
                    <a:pt x="15663447" y="0"/>
                  </a:lnTo>
                  <a:lnTo>
                    <a:pt x="15663447" y="5014369"/>
                  </a:lnTo>
                  <a:lnTo>
                    <a:pt x="0" y="5014369"/>
                  </a:lnTo>
                  <a:close/>
                </a:path>
              </a:pathLst>
            </a:custGeom>
            <a:blipFill>
              <a:blip r:embed="rId2">
                <a:alphaModFix amt="75000"/>
              </a:blip>
              <a:stretch>
                <a:fillRect l="0" t="-45989" r="0" b="-45989"/>
              </a:stretch>
            </a:blipFill>
            <a:ln w="38100" cap="sq">
              <a:solidFill>
                <a:srgbClr val="000000">
                  <a:alpha val="74902"/>
                </a:srgbClr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298403" y="6599580"/>
            <a:ext cx="8510038" cy="1260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81"/>
              </a:lnSpc>
            </a:pPr>
            <a:r>
              <a:rPr lang="en-US" sz="7128" u="sng" b="true">
                <a:solidFill>
                  <a:srgbClr val="2DCD84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BIBLIOGRAPHY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09367" y="5967835"/>
            <a:ext cx="9697536" cy="3294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7"/>
              </a:lnSpc>
            </a:pPr>
            <a:r>
              <a:rPr lang="en-US" sz="455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Financial Websites (e.g., RBI, NSE)</a:t>
            </a:r>
          </a:p>
          <a:p>
            <a:pPr algn="l">
              <a:lnSpc>
                <a:spcPts val="6377"/>
              </a:lnSpc>
            </a:pPr>
            <a:r>
              <a:rPr lang="en-US" sz="455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Investment Articles and Journals</a:t>
            </a:r>
          </a:p>
          <a:p>
            <a:pPr algn="l">
              <a:lnSpc>
                <a:spcPts val="6377"/>
              </a:lnSpc>
            </a:pPr>
            <a:r>
              <a:rPr lang="en-US" sz="455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Books on Financial Management</a:t>
            </a:r>
          </a:p>
          <a:p>
            <a:pPr algn="l">
              <a:lnSpc>
                <a:spcPts val="6377"/>
              </a:lnSpc>
              <a:spcBef>
                <a:spcPct val="0"/>
              </a:spcBef>
            </a:pPr>
            <a:r>
              <a:rPr lang="en-US" sz="455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Online Research Sources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02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14178" y="3835121"/>
            <a:ext cx="10776216" cy="2113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05"/>
              </a:lnSpc>
            </a:pPr>
            <a:r>
              <a:rPr lang="en-US" sz="13632" b="true">
                <a:solidFill>
                  <a:srgbClr val="2DCD84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THANK YOU.</a:t>
            </a:r>
          </a:p>
        </p:txBody>
      </p:sp>
      <p:sp>
        <p:nvSpPr>
          <p:cNvPr name="AutoShape 3" id="3"/>
          <p:cNvSpPr/>
          <p:nvPr/>
        </p:nvSpPr>
        <p:spPr>
          <a:xfrm>
            <a:off x="7615039" y="6775995"/>
            <a:ext cx="4196275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DAHFTl4Y78o</dc:identifier>
  <dcterms:modified xsi:type="dcterms:W3CDTF">2011-08-01T06:04:30Z</dcterms:modified>
  <cp:revision>1</cp:revision>
  <dc:title>NAVIOTECH GROUP PROJECT</dc:title>
</cp:coreProperties>
</file>